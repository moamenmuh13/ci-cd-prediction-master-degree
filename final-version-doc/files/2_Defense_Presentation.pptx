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598002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5486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CAIRO UNIVERSITY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of Graduate Studies for Statistical Research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2344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Engineering Program  —  Professional Master's Degree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CI/CD Pipeline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731520" y="30175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Failures Using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731520" y="37490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00C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Techniques</a:t>
            </a:r>
            <a:endParaRPr lang="en-US" sz="4200" dirty="0"/>
          </a:p>
        </p:txBody>
      </p:sp>
      <p:sp>
        <p:nvSpPr>
          <p:cNvPr id="9" name="Shape 7"/>
          <p:cNvSpPr/>
          <p:nvPr/>
        </p:nvSpPr>
        <p:spPr>
          <a:xfrm>
            <a:off x="731520" y="4937760"/>
            <a:ext cx="3657600" cy="0"/>
          </a:xfrm>
          <a:prstGeom prst="line">
            <a:avLst/>
          </a:prstGeom>
          <a:noFill/>
          <a:ln w="25400">
            <a:solidFill>
              <a:srgbClr val="00C9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31520" y="50749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 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Moamen Mohamed Aly Hussein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53949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ID: 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202401681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56692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Maged Mamdouh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" y="6126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C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Date: Saturday, June 21,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11430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868680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will cover in the next 20 minutes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48640" cy="54864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280160" y="1417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80160" y="17373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CI/CD failures matter — financially and operationally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176272"/>
            <a:ext cx="548640" cy="54864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21762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280160" y="213055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Gap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80160" y="2450592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prior research did, and what it left undone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889504"/>
            <a:ext cx="548640" cy="54864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48640" y="288950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280160" y="2843784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80160" y="3163824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Hybrid ML Pipeline architecture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602736"/>
            <a:ext cx="548640" cy="54864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48640" y="360273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280160" y="3557016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280160" y="3877056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Data, features, models, and evaluation regime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315968"/>
            <a:ext cx="548640" cy="54864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48640" y="43159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280160" y="427024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280160" y="459028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metrics, ablation study, threshold optimization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5029200"/>
            <a:ext cx="548640" cy="54864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48640" y="5029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280160" y="49834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280160" y="53035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Translating model performance into dollar savings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5742432"/>
            <a:ext cx="548640" cy="54864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48640" y="57424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1280160" y="569671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 &amp; Future Work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280160" y="6016752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proved, what remains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Moamen M. Aly  ·  MSc Thesis Defense  ·  June 21, 2026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11430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868680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failures are expensive — in time and money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3703320" cy="2194560"/>
          </a:xfrm>
          <a:prstGeom prst="rect">
            <a:avLst/>
          </a:prstGeom>
          <a:solidFill>
            <a:srgbClr val="F7F9FB"/>
          </a:solidFill>
          <a:ln w="12700">
            <a:solidFill>
              <a:srgbClr val="C8463D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3703320" cy="73152"/>
          </a:xfrm>
          <a:prstGeom prst="rect">
            <a:avLst/>
          </a:prstGeom>
          <a:solidFill>
            <a:srgbClr val="C8463D"/>
          </a:solidFill>
          <a:ln w="12700">
            <a:solidFill>
              <a:srgbClr val="C84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3703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C84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11%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640080" y="260604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GitHub Actions runs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3017520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in failure (observed in our dataset)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89120" y="1463040"/>
            <a:ext cx="3703320" cy="2194560"/>
          </a:xfrm>
          <a:prstGeom prst="rect">
            <a:avLst/>
          </a:prstGeom>
          <a:solidFill>
            <a:srgbClr val="F7F9FB"/>
          </a:solidFill>
          <a:ln w="12700">
            <a:solidFill>
              <a:srgbClr val="D4922A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389120" y="1463040"/>
            <a:ext cx="3703320" cy="73152"/>
          </a:xfrm>
          <a:prstGeom prst="rect">
            <a:avLst/>
          </a:prstGeom>
          <a:solidFill>
            <a:srgbClr val="D4922A"/>
          </a:solidFill>
          <a:ln w="12700">
            <a:solidFill>
              <a:srgbClr val="D49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389120" y="1691640"/>
            <a:ext cx="3703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D4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$0.008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4572000" y="260604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minute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0" y="3017520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compute cost (Linux runner)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321040" y="1463040"/>
            <a:ext cx="3703320" cy="2194560"/>
          </a:xfrm>
          <a:prstGeom prst="rect">
            <a:avLst/>
          </a:prstGeom>
          <a:solidFill>
            <a:srgbClr val="F7F9FB"/>
          </a:solidFill>
          <a:ln w="12700">
            <a:solidFill>
              <a:srgbClr val="1C7293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321040" y="1463040"/>
            <a:ext cx="3703320" cy="7315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321040" y="1691640"/>
            <a:ext cx="3703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10–20 min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8503920" y="260604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interruption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503920" y="3017520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context-switch penalty per failure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4023360"/>
            <a:ext cx="11338560" cy="192024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31520" y="416052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C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Cumulative Cost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31520" y="4572000"/>
            <a:ext cx="10698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mid-sized organization running </a:t>
            </a: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 pipeline executions per day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that is approximately </a:t>
            </a:r>
            <a:r>
              <a:rPr lang="en-US" sz="1500" b="1" dirty="0">
                <a:solidFill>
                  <a:srgbClr val="00C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110 failed builds daily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consuming compute resources and developer time that </a:t>
            </a: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be recovered after the fact.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Moamen M. Aly  ·  MSc Thesis Defense  ·  June 21, 2026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11430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Gap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868680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prior research did — and what it missed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5486400" cy="4846320"/>
          </a:xfrm>
          <a:prstGeom prst="rect">
            <a:avLst/>
          </a:prstGeom>
          <a:solidFill>
            <a:srgbClr val="F7F9FB"/>
          </a:solidFill>
          <a:ln w="12700">
            <a:solidFill>
              <a:srgbClr val="C84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5486400" cy="457200"/>
          </a:xfrm>
          <a:prstGeom prst="rect">
            <a:avLst/>
          </a:prstGeom>
          <a:solidFill>
            <a:srgbClr val="C8463D"/>
          </a:solidFill>
          <a:ln w="12700">
            <a:solidFill>
              <a:srgbClr val="C84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WORK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0574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Patel (2019) and related studies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514600"/>
            <a:ext cx="51206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post-execution telemetry:</a:t>
            </a:r>
            <a:endParaRPr lang="en-US" sz="1300" dirty="0"/>
          </a:p>
          <a:p>
            <a:pPr marL="381000" indent="-381000">
              <a:buSzPct val="100000"/>
              <a:buChar char="•"/>
            </a:pPr>
            <a:r>
              <a:rPr lang="en-US" sz="12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duration</a:t>
            </a:r>
            <a:endParaRPr lang="en-US" sz="1300" dirty="0"/>
          </a:p>
          <a:p>
            <a:pPr marL="381000" indent="-381000">
              <a:buSzPct val="100000"/>
              <a:buChar char="•"/>
            </a:pPr>
            <a:r>
              <a:rPr lang="en-US" sz="12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utilization (CPU, memory)</a:t>
            </a:r>
            <a:endParaRPr lang="en-US" sz="1300" dirty="0"/>
          </a:p>
          <a:p>
            <a:pPr marL="381000" indent="-381000">
              <a:buSzPct val="100000"/>
              <a:buChar char="•"/>
            </a:pPr>
            <a:r>
              <a:rPr lang="en-US" sz="12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Step-level intermediate status</a:t>
            </a:r>
            <a:endParaRPr lang="en-US" sz="1300" dirty="0"/>
          </a:p>
          <a:p>
            <a:pPr marL="381000" indent="-381000">
              <a:buSzPct val="100000"/>
              <a:buChar char="•"/>
            </a:pPr>
            <a:r>
              <a:rPr lang="en-US" sz="12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count and patterns</a:t>
            </a:r>
            <a:endParaRPr lang="en-US" sz="1300" dirty="0"/>
          </a:p>
          <a:p>
            <a:pPr marL="0" indent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for retrospective anomaly detection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5120640"/>
            <a:ext cx="5120640" cy="1097280"/>
          </a:xfrm>
          <a:prstGeom prst="rect">
            <a:avLst/>
          </a:prstGeom>
          <a:solidFill>
            <a:srgbClr val="F8D7DA"/>
          </a:solidFill>
          <a:ln w="12700">
            <a:solidFill>
              <a:srgbClr val="C84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77240" y="521208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84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CRITICAL LIMITATION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time the predictor has its input, the resources have already been spent.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1463040"/>
            <a:ext cx="5486400" cy="4846320"/>
          </a:xfrm>
          <a:prstGeom prst="rect">
            <a:avLst/>
          </a:prstGeom>
          <a:solidFill>
            <a:srgbClr val="F7F9FB"/>
          </a:solidFill>
          <a:ln w="12700">
            <a:solidFill>
              <a:srgbClr val="2C8C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217920" y="1463040"/>
            <a:ext cx="5486400" cy="457200"/>
          </a:xfrm>
          <a:prstGeom prst="rect">
            <a:avLst/>
          </a:prstGeom>
          <a:solidFill>
            <a:srgbClr val="2C8C5C"/>
          </a:solidFill>
          <a:ln w="12700">
            <a:solidFill>
              <a:srgbClr val="2C8C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217920" y="14630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0800" y="20574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Pre-execution prediction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0" y="2514600"/>
            <a:ext cx="51206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only pre-execution features:</a:t>
            </a:r>
            <a:endParaRPr lang="en-US" sz="1300" dirty="0"/>
          </a:p>
          <a:p>
            <a:pPr marL="381000" indent="-381000">
              <a:buSzPct val="100000"/>
              <a:buChar char="•"/>
            </a:pPr>
            <a:r>
              <a:rPr lang="en-US" sz="12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Commit-level metadata</a:t>
            </a:r>
            <a:endParaRPr lang="en-US" sz="1300" dirty="0"/>
          </a:p>
          <a:p>
            <a:pPr marL="381000" indent="-381000">
              <a:buSzPct val="100000"/>
              <a:buChar char="•"/>
            </a:pPr>
            <a:r>
              <a:rPr lang="en-US" sz="12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added / deleted / files changed</a:t>
            </a:r>
            <a:endParaRPr lang="en-US" sz="1300" dirty="0"/>
          </a:p>
          <a:p>
            <a:pPr marL="381000" indent="-381000">
              <a:buSzPct val="100000"/>
              <a:buChar char="•"/>
            </a:pPr>
            <a:r>
              <a:rPr lang="en-US" sz="12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message (NLP via TF-IDF)</a:t>
            </a:r>
            <a:endParaRPr lang="en-US" sz="1300" dirty="0"/>
          </a:p>
          <a:p>
            <a:pPr marL="381000" indent="-381000">
              <a:buSzPct val="100000"/>
              <a:buChar char="•"/>
            </a:pPr>
            <a:r>
              <a:rPr lang="en-US" sz="12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Repository, branch, event context</a:t>
            </a:r>
            <a:endParaRPr lang="en-US" sz="1300" dirty="0"/>
          </a:p>
          <a:p>
            <a:pPr marL="0" indent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proactive resource conservation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0" y="5120640"/>
            <a:ext cx="5120640" cy="1097280"/>
          </a:xfrm>
          <a:prstGeom prst="rect">
            <a:avLst/>
          </a:prstGeom>
          <a:solidFill>
            <a:srgbClr val="D4EDDA"/>
          </a:solidFill>
          <a:ln w="12700">
            <a:solidFill>
              <a:srgbClr val="2C8C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537960" y="521208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8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THE CONTRIBUTION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at commit time, before the runner starts. Decisions can prevent the cost rather than diagnose it.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Moamen M. Aly  ·  MSc Thesis Defense  ·  June 21, 2026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22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11430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Objectives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868680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specific, measurable goals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5486400" cy="2011680"/>
          </a:xfrm>
          <a:prstGeom prst="rect">
            <a:avLst/>
          </a:prstGeom>
          <a:solidFill>
            <a:srgbClr val="F7F9FB"/>
          </a:solidFill>
          <a:ln w="12700">
            <a:solidFill>
              <a:srgbClr val="065A82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914400" cy="20116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914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554480" y="173736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Hybrid ML Pipeline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54480" y="2240280"/>
            <a:ext cx="4297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numerical, categorical, binary, and textual commit features into a single end-to-end classifier using scikit-learn's ColumnTransformer.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17920" y="1554480"/>
            <a:ext cx="5486400" cy="2011680"/>
          </a:xfrm>
          <a:prstGeom prst="rect">
            <a:avLst/>
          </a:prstGeom>
          <a:solidFill>
            <a:srgbClr val="F7F9FB"/>
          </a:solidFill>
          <a:ln w="12700">
            <a:solidFill>
              <a:srgbClr val="065A82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217920" y="1554480"/>
            <a:ext cx="914400" cy="20116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217920" y="1554480"/>
            <a:ext cx="914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7315200" y="173736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Three Classifiers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315200" y="2240280"/>
            <a:ext cx="4297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Logistic Regression (baseline), Random Forest (ensemble), and XGBoost (gradient boosting) under identical conditions.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3840480"/>
            <a:ext cx="5486400" cy="2011680"/>
          </a:xfrm>
          <a:prstGeom prst="rect">
            <a:avLst/>
          </a:prstGeom>
          <a:solidFill>
            <a:srgbClr val="F7F9FB"/>
          </a:solidFill>
          <a:ln w="12700">
            <a:solidFill>
              <a:srgbClr val="065A82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57200" y="3840480"/>
            <a:ext cx="914400" cy="20116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57200" y="3840480"/>
            <a:ext cx="914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1554480" y="402336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Under Realistic Conditions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554480" y="4526280"/>
            <a:ext cx="4297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the model on both stratified random and chronological splits to verify robustness to temporal data drift.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17920" y="3840480"/>
            <a:ext cx="5486400" cy="2011680"/>
          </a:xfrm>
          <a:prstGeom prst="rect">
            <a:avLst/>
          </a:prstGeom>
          <a:solidFill>
            <a:srgbClr val="F7F9FB"/>
          </a:solidFill>
          <a:ln w="12700">
            <a:solidFill>
              <a:srgbClr val="065A82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217920" y="3840480"/>
            <a:ext cx="914400" cy="20116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217920" y="3840480"/>
            <a:ext cx="914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7315200" y="402336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 Business Impact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315200" y="4526280"/>
            <a:ext cx="4297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precision and recall metrics into estimated annual cost savings under a documented operational scenario.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Moamen M. Aly  ·  MSc Thesis Defense  ·  June 21, 2026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22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11430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868680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GitHub Actions data — not synthetic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5029200" cy="484632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00C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PROFILE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219456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9,772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40080" y="2606040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workflow runs collected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871216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40080" y="3282696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 open-source repositories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3547872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89% / 11%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40080" y="3959352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/ Failure class balance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4224528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40080" y="4636008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languages covered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4901184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7,817 / 1,955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40080" y="5312664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Test split (stratified)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557784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 hours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40080" y="5989320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 time (rate-limited)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760720" y="146304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Sampled Repositories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760720" y="1874520"/>
            <a:ext cx="5943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facebook/react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microsoft/vscode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tensorflow/tensorflow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pytorch/pytorch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rust-lang/rust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python/cpython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elastic/elasticsearch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prisma/prisma</a:t>
            </a:r>
            <a:endParaRPr lang="en-US" sz="1200" dirty="0"/>
          </a:p>
          <a:p>
            <a:pPr marL="0" indent="0">
              <a:buNone/>
            </a:pPr>
            <a:r>
              <a:rPr lang="en-US" sz="1200" i="1" dirty="0">
                <a:solidFill>
                  <a:srgbClr val="5A64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...and 10 more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760720" y="4297680"/>
            <a:ext cx="5943600" cy="2011680"/>
          </a:xfrm>
          <a:prstGeom prst="rect">
            <a:avLst/>
          </a:prstGeom>
          <a:solidFill>
            <a:srgbClr val="F7F9FB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943600" y="443484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real data, not synthetic?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943600" y="4800600"/>
            <a:ext cx="5577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experiments on a 45K-row synthetic Kaggle dataset revealed that columns were statistically independent — essentially random noise. Pivoting to real GitHub Actions data was the most important methodological decision in the project.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Moamen M. Aly  ·  MSc Thesis Defense  ·  June 21, 2026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22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11430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Pipeline Architecture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868680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parallel branches fused via ColumnTransformer</a:t>
            </a:r>
            <a:endParaRPr lang="en-US" sz="1400" dirty="0"/>
          </a:p>
        </p:txBody>
      </p:sp>
      <p:pic>
        <p:nvPicPr>
          <p:cNvPr id="4" name="Image 0" descr="/home/claude/thesis/figures/fig_11_hybrid_architecture_diagram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371600"/>
            <a:ext cx="7772400" cy="4937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03920" y="14630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Design Choices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503920" y="1828800"/>
            <a:ext cx="32918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branches</a:t>
            </a:r>
            <a:endParaRPr lang="en-US" sz="1200" dirty="0"/>
          </a:p>
          <a:p>
            <a:pPr marL="0" indent="0"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(scaled), categorical (one-hot), binary (passthrough), text (TF-IDF) — processed independently then fused.</a:t>
            </a:r>
            <a:endParaRPr lang="en-US" sz="12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 matrix</a:t>
            </a:r>
            <a:endParaRPr lang="en-US" sz="1200" dirty="0"/>
          </a:p>
          <a:p>
            <a:pPr marL="0" indent="0"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~3,090 columns total. Sparse-aware classifiers (LR, XGB) consume directly without densification.</a:t>
            </a:r>
            <a:endParaRPr lang="en-US" sz="12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classifier head</a:t>
            </a:r>
            <a:endParaRPr lang="en-US" sz="1200" dirty="0"/>
          </a:p>
          <a:p>
            <a:pPr marL="0" indent="0"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output (no MultiOutputClassifier wrapper) — operational decision: success or failure.</a:t>
            </a:r>
            <a:endParaRPr lang="en-US" sz="12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</a:t>
            </a:r>
            <a:endParaRPr lang="en-US" sz="1200" dirty="0"/>
          </a:p>
          <a:p>
            <a:pPr marL="0" indent="0"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branch can be swapped (e.g., TF-IDF → BERT) without touching the rest.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Moamen M. Aly  ·  MSc Thesis Defense  ·  June 21, 2026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22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11430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868680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features across 4 modalities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788920" cy="4572000"/>
          </a:xfrm>
          <a:prstGeom prst="rect">
            <a:avLst/>
          </a:prstGeom>
          <a:solidFill>
            <a:srgbClr val="F7F9FB"/>
          </a:solidFill>
          <a:ln w="12700">
            <a:solidFill>
              <a:srgbClr val="065A82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2788920" cy="5486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755648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features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194560"/>
            <a:ext cx="2468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lines_added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lines_deleted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files_changed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commit_age_days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message_length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40080" y="5029200"/>
            <a:ext cx="2423160" cy="0"/>
          </a:xfrm>
          <a:prstGeom prst="line">
            <a:avLst/>
          </a:prstGeom>
          <a:noFill/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0080" y="512064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Treatment: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40080" y="534924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383280" y="1463040"/>
            <a:ext cx="2788920" cy="4572000"/>
          </a:xfrm>
          <a:prstGeom prst="rect">
            <a:avLst/>
          </a:prstGeom>
          <a:solidFill>
            <a:srgbClr val="F7F9FB"/>
          </a:solidFill>
          <a:ln w="12700">
            <a:solidFill>
              <a:srgbClr val="2C8C5C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383280" y="1463040"/>
            <a:ext cx="2788920" cy="548640"/>
          </a:xfrm>
          <a:prstGeom prst="rect">
            <a:avLst/>
          </a:prstGeom>
          <a:solidFill>
            <a:srgbClr val="2C8C5C"/>
          </a:solidFill>
          <a:ln w="12700">
            <a:solidFill>
              <a:srgbClr val="2C8C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383280" y="146304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83280" y="1755648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features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566160" y="2194560"/>
            <a:ext cx="2468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repository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workflow_name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branch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566160" y="5029200"/>
            <a:ext cx="2423160" cy="0"/>
          </a:xfrm>
          <a:prstGeom prst="line">
            <a:avLst/>
          </a:prstGeom>
          <a:noFill/>
          <a:ln w="12700">
            <a:solidFill>
              <a:srgbClr val="2C8C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566160" y="512064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C8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Treatment: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566160" y="534924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OneHotEncoder (with rare-category bucketing)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309360" y="1463040"/>
            <a:ext cx="2788920" cy="4572000"/>
          </a:xfrm>
          <a:prstGeom prst="rect">
            <a:avLst/>
          </a:prstGeom>
          <a:solidFill>
            <a:srgbClr val="F7F9FB"/>
          </a:solidFill>
          <a:ln w="12700">
            <a:solidFill>
              <a:srgbClr val="D4922A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309360" y="1463040"/>
            <a:ext cx="2788920" cy="548640"/>
          </a:xfrm>
          <a:prstGeom prst="rect">
            <a:avLst/>
          </a:prstGeom>
          <a:solidFill>
            <a:srgbClr val="D4922A"/>
          </a:solidFill>
          <a:ln w="12700">
            <a:solidFill>
              <a:srgbClr val="D49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309360" y="146304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309360" y="1755648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features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92240" y="2194560"/>
            <a:ext cx="2468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is_weekend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is_night_commit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is_pr_merge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is_main_branch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is_force_push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is_dependabot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492240" y="5029200"/>
            <a:ext cx="2423160" cy="0"/>
          </a:xfrm>
          <a:prstGeom prst="line">
            <a:avLst/>
          </a:prstGeom>
          <a:noFill/>
          <a:ln w="12700">
            <a:solidFill>
              <a:srgbClr val="D49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492240" y="512064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4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Treatment: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492240" y="534924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Passthrough (already 0/1)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9235440" y="1463040"/>
            <a:ext cx="2788920" cy="4572000"/>
          </a:xfrm>
          <a:prstGeom prst="rect">
            <a:avLst/>
          </a:prstGeom>
          <a:solidFill>
            <a:srgbClr val="F7F9FB"/>
          </a:solidFill>
          <a:ln w="12700">
            <a:solidFill>
              <a:srgbClr val="8B3FBF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9235440" y="1463040"/>
            <a:ext cx="2788920" cy="548640"/>
          </a:xfrm>
          <a:prstGeom prst="rect">
            <a:avLst/>
          </a:prstGeom>
          <a:solidFill>
            <a:srgbClr val="8B3FBF"/>
          </a:solidFill>
          <a:ln w="12700">
            <a:solidFill>
              <a:srgbClr val="8B3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9235440" y="146304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TEXTUAL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235440" y="1755648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feature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418320" y="2194560"/>
            <a:ext cx="2468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cleaned commit message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9418320" y="5029200"/>
            <a:ext cx="2423160" cy="0"/>
          </a:xfrm>
          <a:prstGeom prst="line">
            <a:avLst/>
          </a:prstGeom>
          <a:noFill/>
          <a:ln w="12700">
            <a:solidFill>
              <a:srgbClr val="8B3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9418320" y="512064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B3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Treatment: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9418320" y="534924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(ngram 1-2, max_features=3000, sublinear_tf)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57200" y="6126480"/>
            <a:ext cx="11247120" cy="32004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40080" y="6144768"/>
            <a:ext cx="110642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Identity-leakage defense:  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693-token stoplist (author logins + repo names + bot signatures) prevents TF-IDF from learning identifiers.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22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11430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Regime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868680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Dual-split protocol for honest robustness reporting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5486400" cy="4846320"/>
          </a:xfrm>
          <a:prstGeom prst="rect">
            <a:avLst/>
          </a:prstGeom>
          <a:solidFill>
            <a:srgbClr val="F7F9FB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5486400" cy="5486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SPLIT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1488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Primary: intrinsic discriminative ability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606040"/>
            <a:ext cx="51206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80/20 random split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ratio preserved in both partitions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Isolates classification ability from temporal confounds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i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Answers: "How well does this model classify?"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17920" y="1463040"/>
            <a:ext cx="5486400" cy="4846320"/>
          </a:xfrm>
          <a:prstGeom prst="rect">
            <a:avLst/>
          </a:prstGeom>
          <a:solidFill>
            <a:srgbClr val="F7F9FB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217920" y="1463040"/>
            <a:ext cx="5486400" cy="5486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217920" y="14630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CHRONOLOGICAL SPLIT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0" y="21488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Secondary: deployment realism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0" y="2606040"/>
            <a:ext cx="51206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 by commit timestamp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on past, test on most recent 20%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Simulates production: future commits unseen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i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Answers: "How well does it work in deployment?"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6126480"/>
            <a:ext cx="11247120" cy="32004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0080" y="6144768"/>
            <a:ext cx="110642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Metrics:  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F1 (primary)  ·  Balanced Accuracy  ·  ROC-AUC  ·  PR-AUC  ·  Precision  ·  Recall  ·  Confusion Matrix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22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11430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Results — Default Threshold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868680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classifiers, stratified test set, threshold = 0.5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2926080" cy="502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383280" y="1554480"/>
            <a:ext cx="1280160" cy="502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383280" y="155448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1554480"/>
            <a:ext cx="1280160" cy="502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663440" y="155448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Bal. Acc.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943600" y="1554480"/>
            <a:ext cx="1280160" cy="502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943600" y="155448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223760" y="1554480"/>
            <a:ext cx="1280160" cy="502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223760" y="155448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503920" y="1554480"/>
            <a:ext cx="1280160" cy="502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503920" y="155448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784080" y="1554480"/>
            <a:ext cx="1371600" cy="502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784080" y="15544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2057400"/>
            <a:ext cx="29260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57200" y="20574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383280" y="2057400"/>
            <a:ext cx="12801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383280" y="205740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A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80.2%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663440" y="2057400"/>
            <a:ext cx="12801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663440" y="205740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A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78.8%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43600" y="2057400"/>
            <a:ext cx="12801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943600" y="205740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A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32.8%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223760" y="2057400"/>
            <a:ext cx="12801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223760" y="205740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A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77.1%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503920" y="2057400"/>
            <a:ext cx="12801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8503920" y="205740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A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0.460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9784080" y="2057400"/>
            <a:ext cx="13716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9784080" y="20574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A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0.875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57200" y="2560320"/>
            <a:ext cx="2926080" cy="502920"/>
          </a:xfrm>
          <a:prstGeom prst="rect">
            <a:avLst/>
          </a:prstGeom>
          <a:solidFill>
            <a:srgbClr val="F7F9FB"/>
          </a:solidFill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57200" y="256032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3383280" y="2560320"/>
            <a:ext cx="1280160" cy="502920"/>
          </a:xfrm>
          <a:prstGeom prst="rect">
            <a:avLst/>
          </a:prstGeom>
          <a:solidFill>
            <a:srgbClr val="F7F9FB"/>
          </a:solidFill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3383280" y="256032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A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83.2%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4663440" y="2560320"/>
            <a:ext cx="1280160" cy="502920"/>
          </a:xfrm>
          <a:prstGeom prst="rect">
            <a:avLst/>
          </a:prstGeom>
          <a:solidFill>
            <a:srgbClr val="F7F9FB"/>
          </a:solidFill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663440" y="256032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A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77.2%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5943600" y="2560320"/>
            <a:ext cx="1280160" cy="502920"/>
          </a:xfrm>
          <a:prstGeom prst="rect">
            <a:avLst/>
          </a:prstGeom>
          <a:solidFill>
            <a:srgbClr val="F7F9FB"/>
          </a:solidFill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5943600" y="256032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A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36.1%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7223760" y="2560320"/>
            <a:ext cx="1280160" cy="502920"/>
          </a:xfrm>
          <a:prstGeom prst="rect">
            <a:avLst/>
          </a:prstGeom>
          <a:solidFill>
            <a:srgbClr val="F7F9FB"/>
          </a:solidFill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7223760" y="256032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A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69.6%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8503920" y="2560320"/>
            <a:ext cx="1280160" cy="502920"/>
          </a:xfrm>
          <a:prstGeom prst="rect">
            <a:avLst/>
          </a:prstGeom>
          <a:solidFill>
            <a:srgbClr val="F7F9FB"/>
          </a:solidFill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8503920" y="256032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A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0.475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9784080" y="2560320"/>
            <a:ext cx="1371600" cy="502920"/>
          </a:xfrm>
          <a:prstGeom prst="rect">
            <a:avLst/>
          </a:prstGeom>
          <a:solidFill>
            <a:srgbClr val="F7F9FB"/>
          </a:solidFill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9784080" y="25603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A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0.861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457200" y="3063240"/>
            <a:ext cx="29260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457200" y="30632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3383280" y="3063240"/>
            <a:ext cx="12801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3383280" y="306324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A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90.7%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4663440" y="3063240"/>
            <a:ext cx="12801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4663440" y="306324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A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59.8%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5943600" y="3063240"/>
            <a:ext cx="12801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5943600" y="306324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A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81.1%</a:t>
            </a:r>
            <a:endParaRPr lang="en-US" sz="1300" dirty="0"/>
          </a:p>
        </p:txBody>
      </p:sp>
      <p:sp>
        <p:nvSpPr>
          <p:cNvPr id="54" name="Shape 52"/>
          <p:cNvSpPr/>
          <p:nvPr/>
        </p:nvSpPr>
        <p:spPr>
          <a:xfrm>
            <a:off x="7223760" y="3063240"/>
            <a:ext cx="12801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7223760" y="306324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A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20.1%</a:t>
            </a:r>
            <a:endParaRPr lang="en-US" sz="1300" dirty="0"/>
          </a:p>
        </p:txBody>
      </p:sp>
      <p:sp>
        <p:nvSpPr>
          <p:cNvPr id="56" name="Shape 54"/>
          <p:cNvSpPr/>
          <p:nvPr/>
        </p:nvSpPr>
        <p:spPr>
          <a:xfrm>
            <a:off x="8503920" y="3063240"/>
            <a:ext cx="12801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8503920" y="306324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A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0.322</a:t>
            </a:r>
            <a:endParaRPr lang="en-US" sz="1300" dirty="0"/>
          </a:p>
        </p:txBody>
      </p:sp>
      <p:sp>
        <p:nvSpPr>
          <p:cNvPr id="58" name="Shape 56"/>
          <p:cNvSpPr/>
          <p:nvPr/>
        </p:nvSpPr>
        <p:spPr>
          <a:xfrm>
            <a:off x="9784080" y="3063240"/>
            <a:ext cx="13716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9784080" y="306324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A1F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0.884</a:t>
            </a:r>
            <a:endParaRPr lang="en-US" sz="1300" dirty="0"/>
          </a:p>
        </p:txBody>
      </p:sp>
      <p:sp>
        <p:nvSpPr>
          <p:cNvPr id="60" name="Shape 58"/>
          <p:cNvSpPr/>
          <p:nvPr/>
        </p:nvSpPr>
        <p:spPr>
          <a:xfrm>
            <a:off x="457200" y="4114800"/>
            <a:ext cx="11247120" cy="228600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640080" y="425196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C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Key Observation</a:t>
            </a:r>
            <a:endParaRPr lang="en-US" sz="1800" dirty="0"/>
          </a:p>
        </p:txBody>
      </p:sp>
      <p:sp>
        <p:nvSpPr>
          <p:cNvPr id="62" name="Text 60"/>
          <p:cNvSpPr/>
          <p:nvPr/>
        </p:nvSpPr>
        <p:spPr>
          <a:xfrm>
            <a:off x="640080" y="4709160"/>
            <a:ext cx="10972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achieves the highest ROC-AUC (0.884) — meaning it ranks failures correctly — but the worst F1 (0.322).</a:t>
            </a:r>
            <a:endParaRPr lang="en-US" sz="1400" dirty="0"/>
          </a:p>
          <a:p>
            <a:pPr marL="0" indent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300" b="1" dirty="0">
                <a:solidFill>
                  <a:srgbClr val="00C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Translation: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has good information but a miscalibrated decision rule. Only 20% of true failures are flagged because the 0.5 threshold is implicitly designed for a balanced class prior.</a:t>
            </a:r>
            <a:endParaRPr lang="en-US" sz="1400" dirty="0"/>
          </a:p>
          <a:p>
            <a:pPr marL="0" indent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200" i="1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insight motivates the threshold optimization experiment ahead →</a:t>
            </a:r>
            <a:endParaRPr lang="en-US" sz="1400" dirty="0"/>
          </a:p>
        </p:txBody>
      </p:sp>
      <p:sp>
        <p:nvSpPr>
          <p:cNvPr id="63" name="Text 61"/>
          <p:cNvSpPr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Moamen M. Aly  ·  MSc Thesis Defense  ·  June 21, 2026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22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11430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Ablation Study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868680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hybrid claim hold? Test each modality in isolation</a:t>
            </a:r>
            <a:endParaRPr lang="en-US" sz="1400" dirty="0"/>
          </a:p>
        </p:txBody>
      </p:sp>
      <p:pic>
        <p:nvPicPr>
          <p:cNvPr id="4" name="Image 0" descr="/home/claude/thesis/figures/fig_15_ablation_study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65760" y="1371600"/>
            <a:ext cx="7772400" cy="4023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412480" y="1463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Configurations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412480" y="1828800"/>
            <a:ext cx="3474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Text-only (TF-IDF)</a:t>
            </a:r>
            <a:endParaRPr lang="en-US" sz="1100" dirty="0"/>
          </a:p>
          <a:p>
            <a:pPr marL="0" indent="0">
              <a:buNone/>
            </a:pPr>
            <a:r>
              <a:rPr lang="en-US" sz="1050" i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= 0.027 — catastrophic on its own</a:t>
            </a:r>
            <a:endParaRPr lang="en-US" sz="1100" dirty="0"/>
          </a:p>
          <a:p>
            <a:pPr marL="0" indent="0"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Structured-only</a:t>
            </a:r>
            <a:endParaRPr lang="en-US" sz="1100" dirty="0"/>
          </a:p>
          <a:p>
            <a:pPr marL="0" indent="0">
              <a:buNone/>
            </a:pPr>
            <a:r>
              <a:rPr lang="en-US" sz="1050" i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= 0.380 — surprisingly strong alone</a:t>
            </a:r>
            <a:endParaRPr lang="en-US" sz="1100" dirty="0"/>
          </a:p>
          <a:p>
            <a:pPr marL="0" indent="0"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(full)</a:t>
            </a:r>
            <a:endParaRPr lang="en-US" sz="1100" dirty="0"/>
          </a:p>
          <a:p>
            <a:pPr marL="0" indent="0">
              <a:buNone/>
            </a:pPr>
            <a:r>
              <a:rPr lang="en-US" sz="1050" i="1" dirty="0">
                <a:solidFill>
                  <a:srgbClr val="C84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= 0.322 — worse than structured-only!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8412480" y="4297680"/>
            <a:ext cx="3474720" cy="2011680"/>
          </a:xfrm>
          <a:prstGeom prst="rect">
            <a:avLst/>
          </a:prstGeom>
          <a:solidFill>
            <a:srgbClr val="FFF4E6"/>
          </a:solidFill>
          <a:ln w="12700">
            <a:solidFill>
              <a:srgbClr val="D49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8595360" y="44348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Honest Finding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595360" y="480060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default threshold, the hybrid claim is refuted on real data with TF-IDF features. Reporting this openly is itself an academic contribution.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65760" y="5532120"/>
            <a:ext cx="7772400" cy="822960"/>
          </a:xfrm>
          <a:prstGeom prst="rect">
            <a:avLst/>
          </a:prstGeom>
          <a:solidFill>
            <a:srgbClr val="F7F9FB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48640" y="5623560"/>
            <a:ext cx="7406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But:  </a:t>
            </a:r>
            <a:r>
              <a:rPr lang="en-US" sz="12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threshold-independent metrics (ROC-AUC: 0.884 hybrid vs 0.877 structured), hybrid retains a marginal edge — text contributes to </a:t>
            </a:r>
            <a:r>
              <a:rPr lang="en-US" sz="1200" b="1" i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ability</a:t>
            </a:r>
            <a:r>
              <a:rPr lang="en-US" sz="12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even when harming the default decision rule.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Moamen M. Aly  ·  MSc Thesis Defense  ·  June 21, 2026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22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11430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868680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the model actually use?</a:t>
            </a:r>
            <a:endParaRPr lang="en-US" sz="1400" dirty="0"/>
          </a:p>
        </p:txBody>
      </p:sp>
      <p:pic>
        <p:nvPicPr>
          <p:cNvPr id="4" name="Image 0" descr="/home/claude/thesis/figures/fig_17_feature_importance_global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65760" y="1371600"/>
            <a:ext cx="7315200" cy="4937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955280" y="14630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Features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955280" y="1828800"/>
            <a:ext cx="3931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3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tokens (purple) dominate</a:t>
            </a:r>
            <a:endParaRPr lang="en-US" sz="1200" dirty="0"/>
          </a:p>
          <a:p>
            <a:pPr marL="0" indent="0">
              <a:buNone/>
            </a:pPr>
            <a:r>
              <a:rPr lang="en-US" sz="1050" i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Top-3: dotenv, module, compiles — terms describing what the commit touches.</a:t>
            </a:r>
            <a:endParaRPr lang="en-US" sz="1200" dirty="0"/>
          </a:p>
          <a:p>
            <a:pPr marL="0" indent="0"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2C8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signal is strong</a:t>
            </a:r>
            <a:endParaRPr lang="en-US" sz="1200" dirty="0"/>
          </a:p>
          <a:p>
            <a:pPr marL="0" indent="0">
              <a:buNone/>
            </a:pPr>
            <a:r>
              <a:rPr lang="en-US" sz="1050" i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repository_prisma/prisma at rank 3 — failures are repository-specific.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7955280" y="4114800"/>
            <a:ext cx="3931920" cy="2194560"/>
          </a:xfrm>
          <a:prstGeom prst="rect">
            <a:avLst/>
          </a:prstGeom>
          <a:solidFill>
            <a:srgbClr val="EAF7F0"/>
          </a:solidFill>
          <a:ln w="12700">
            <a:solidFill>
              <a:srgbClr val="2C8C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8138160" y="42519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8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Surprising Finding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138160" y="457200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Failure-discriminative vocabulary is not "fix", "bug", "revert" — but timezone, utc, thresholds, borrow.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138160" y="534924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 don't know at commit time that their build will fail. The signal comes from what part of the code is touched.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Moamen M. Aly  ·  MSc Thesis Defense  ·  June 21, 2026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11430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Optimization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868680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biggest performance lever in the project</a:t>
            </a:r>
            <a:endParaRPr lang="en-US" sz="1400" dirty="0"/>
          </a:p>
        </p:txBody>
      </p:sp>
      <p:pic>
        <p:nvPicPr>
          <p:cNvPr id="4" name="Image 0" descr="/home/claude/thesis/figures/fig_20_threshold_optimization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371600"/>
            <a:ext cx="7772400" cy="4023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412480" y="1463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412480" y="1828800"/>
            <a:ext cx="34747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84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optimum at threshold = 0.06</a:t>
            </a:r>
            <a:endParaRPr lang="en-US" sz="1200" dirty="0"/>
          </a:p>
          <a:p>
            <a:pPr marL="0" indent="0">
              <a:buNone/>
            </a:pPr>
            <a:r>
              <a:rPr lang="en-US" sz="1050" i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order of magnitude below the default 0.5.</a:t>
            </a:r>
            <a:endParaRPr lang="en-US" sz="1200" dirty="0"/>
          </a:p>
          <a:p>
            <a:pPr marL="0" indent="0"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optimum at 0.79</a:t>
            </a:r>
            <a:endParaRPr lang="en-US" sz="1200" dirty="0"/>
          </a:p>
          <a:p>
            <a:pPr marL="0" indent="0">
              <a:buNone/>
            </a:pPr>
            <a:r>
              <a:rPr lang="en-US" sz="1050" i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the default — opposite-direction miscalibration.</a:t>
            </a:r>
            <a:endParaRPr lang="en-US" sz="1200" dirty="0"/>
          </a:p>
          <a:p>
            <a:pPr marL="0" indent="0"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D4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optimum at 0.57</a:t>
            </a:r>
            <a:endParaRPr lang="en-US" sz="1200" dirty="0"/>
          </a:p>
          <a:p>
            <a:pPr marL="0" indent="0">
              <a:buNone/>
            </a:pPr>
            <a:r>
              <a:rPr lang="en-US" sz="1050" i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Marginally above default.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57200" y="5532120"/>
            <a:ext cx="11338560" cy="86868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40080" y="557784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0C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+27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2103120" y="562356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percentage points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 in failure F1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297680" y="5623560"/>
            <a:ext cx="7406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F1 lifts from </a:t>
            </a:r>
            <a:r>
              <a:rPr lang="en-US" sz="1600" b="1" dirty="0">
                <a:solidFill>
                  <a:srgbClr val="00C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0.322 → 0.592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Recall </a:t>
            </a:r>
            <a:r>
              <a:rPr lang="en-US" sz="1600" b="1" dirty="0">
                <a:solidFill>
                  <a:srgbClr val="00C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0.20 → 0.62</a:t>
            </a: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No retraining required.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Moamen M. Aly  ·  MSc Thesis Defense  ·  June 21, 2026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22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11430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vs. After Threshold Optimization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868680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Per-model transformation</a:t>
            </a:r>
            <a:endParaRPr lang="en-US" sz="1400" dirty="0"/>
          </a:p>
        </p:txBody>
      </p:sp>
      <p:pic>
        <p:nvPicPr>
          <p:cNvPr id="4" name="Image 0" descr="/home/claude/thesis/figures/fig_21_metrics_before_after_threshol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65760" y="1371600"/>
            <a:ext cx="11430000" cy="4114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5623560"/>
            <a:ext cx="11247120" cy="868680"/>
          </a:xfrm>
          <a:prstGeom prst="rect">
            <a:avLst/>
          </a:prstGeom>
          <a:solidFill>
            <a:srgbClr val="F7F9FB"/>
          </a:solidFill>
          <a:ln w="12700">
            <a:solidFill>
              <a:srgbClr val="2C8C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40080" y="568756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8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Methodological lesson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0080" y="59893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imbalanced binary classification, probability calibration is a first-class hyperparameter — not a deployment-time afterthought. This single line of code outperformed feature engineering, class weighting, and hyperparameter tuning combined.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Moamen M. Aly  ·  MSc Thesis Defense  ·  June 21, 2026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22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600" dirty="0">
                <a:solidFill>
                  <a:srgbClr val="00C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RESULTS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 ·  threshold = 0.06  ·  stratified test set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2788920" cy="2377440"/>
          </a:xfrm>
          <a:prstGeom prst="rect">
            <a:avLst/>
          </a:prstGeom>
          <a:solidFill>
            <a:srgbClr val="0E3A5C"/>
          </a:solidFill>
          <a:ln w="25400">
            <a:solidFill>
              <a:srgbClr val="00C9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783080"/>
            <a:ext cx="2788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00C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0.592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457200" y="306324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F1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347472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metric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83280" y="1645920"/>
            <a:ext cx="2788920" cy="2377440"/>
          </a:xfrm>
          <a:prstGeom prst="rect">
            <a:avLst/>
          </a:prstGeom>
          <a:solidFill>
            <a:srgbClr val="0E3A5C"/>
          </a:solidFill>
          <a:ln w="25400">
            <a:solidFill>
              <a:srgbClr val="00C9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383280" y="1783080"/>
            <a:ext cx="2788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00C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78.2%</a:t>
            </a:r>
            <a:endParaRPr lang="en-US" sz="5600" dirty="0"/>
          </a:p>
        </p:txBody>
      </p:sp>
      <p:sp>
        <p:nvSpPr>
          <p:cNvPr id="11" name="Text 9"/>
          <p:cNvSpPr/>
          <p:nvPr/>
        </p:nvSpPr>
        <p:spPr>
          <a:xfrm>
            <a:off x="3383280" y="306324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Accuracy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383280" y="347472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imbalance-aware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309360" y="1645920"/>
            <a:ext cx="2788920" cy="2377440"/>
          </a:xfrm>
          <a:prstGeom prst="rect">
            <a:avLst/>
          </a:prstGeom>
          <a:solidFill>
            <a:srgbClr val="0E3A5C"/>
          </a:solidFill>
          <a:ln w="25400">
            <a:solidFill>
              <a:srgbClr val="00C9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309360" y="1783080"/>
            <a:ext cx="2788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00C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0.884</a:t>
            </a:r>
            <a:endParaRPr lang="en-US" sz="5600" dirty="0"/>
          </a:p>
        </p:txBody>
      </p:sp>
      <p:sp>
        <p:nvSpPr>
          <p:cNvPr id="15" name="Text 13"/>
          <p:cNvSpPr/>
          <p:nvPr/>
        </p:nvSpPr>
        <p:spPr>
          <a:xfrm>
            <a:off x="6309360" y="306324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309360" y="347472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ability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235440" y="1645920"/>
            <a:ext cx="2788920" cy="2377440"/>
          </a:xfrm>
          <a:prstGeom prst="rect">
            <a:avLst/>
          </a:prstGeom>
          <a:solidFill>
            <a:srgbClr val="0E3A5C"/>
          </a:solidFill>
          <a:ln w="25400">
            <a:solidFill>
              <a:srgbClr val="00C9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235440" y="1783080"/>
            <a:ext cx="2788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00C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0.587</a:t>
            </a:r>
            <a:endParaRPr lang="en-US" sz="5600" dirty="0"/>
          </a:p>
        </p:txBody>
      </p:sp>
      <p:sp>
        <p:nvSpPr>
          <p:cNvPr id="19" name="Text 17"/>
          <p:cNvSpPr/>
          <p:nvPr/>
        </p:nvSpPr>
        <p:spPr>
          <a:xfrm>
            <a:off x="9235440" y="306324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PR-AUC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235440" y="347472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precision-recall AUC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4297680"/>
            <a:ext cx="11247120" cy="2011680"/>
          </a:xfrm>
          <a:prstGeom prst="rect">
            <a:avLst/>
          </a:prstGeom>
          <a:solidFill>
            <a:srgbClr val="0E3A5C"/>
          </a:solidFill>
          <a:ln w="12700">
            <a:solidFill>
              <a:srgbClr val="00C9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40080" y="4434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Robustness Check (Chronological Split)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0080" y="48463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F1 on chronological test:  </a:t>
            </a:r>
            <a:r>
              <a:rPr lang="en-US" sz="2200" b="1" dirty="0">
                <a:solidFill>
                  <a:srgbClr val="00C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0.6207</a:t>
            </a: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(+3pp vs stratified)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40080" y="54864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is robust to the observed temporal data drift between training and test periods. Performance does not collapse when deployed on future commits.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11430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868680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model metrics to dollar value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5486400" cy="4937760"/>
          </a:xfrm>
          <a:prstGeom prst="rect">
            <a:avLst/>
          </a:prstGeom>
          <a:solidFill>
            <a:srgbClr val="F7F9FB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Scenario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Mid-sized engineering organization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24688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</a:t>
            </a:r>
            <a:r>
              <a:rPr lang="en-US" sz="12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pipeline executions per day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285292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11%</a:t>
            </a:r>
            <a:r>
              <a:rPr lang="en-US" sz="12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observed failure rate (~110/day)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3236976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$0.008/min</a:t>
            </a:r>
            <a:r>
              <a:rPr lang="en-US" sz="12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compute cost (GitHub published)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3621024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$75/hr</a:t>
            </a:r>
            <a:r>
              <a:rPr lang="en-US" sz="12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fully-loaded developer rate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400507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10–20 min</a:t>
            </a:r>
            <a:r>
              <a:rPr lang="en-US" sz="12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context-switch penalty per failure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43891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$2.50</a:t>
            </a:r>
            <a:r>
              <a:rPr lang="en-US" sz="12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false alarm triage cost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477316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$18.75</a:t>
            </a:r>
            <a:r>
              <a:rPr lang="en-US" sz="12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missed failure cost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17920" y="1463040"/>
            <a:ext cx="5486400" cy="493776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00800" y="16916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00C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ANNUAL SAVINGS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0" y="2194560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$383,000</a:t>
            </a:r>
            <a:endParaRPr lang="en-US" sz="7200" dirty="0"/>
          </a:p>
        </p:txBody>
      </p:sp>
      <p:sp>
        <p:nvSpPr>
          <p:cNvPr id="17" name="Text 15"/>
          <p:cNvSpPr/>
          <p:nvPr/>
        </p:nvSpPr>
        <p:spPr>
          <a:xfrm>
            <a:off x="6400800" y="35204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00C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year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858000" y="4069080"/>
            <a:ext cx="4572000" cy="0"/>
          </a:xfrm>
          <a:prstGeom prst="line">
            <a:avLst/>
          </a:prstGeom>
          <a:noFill/>
          <a:ln w="25400">
            <a:solidFill>
              <a:srgbClr val="00C9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400800" y="42062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C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 range:  $250k – $500k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0" y="461772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depending on org size and operational assumptions. Adjusting any single parameter by 50% shifts the headline by ~$100k.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0" y="5577840"/>
            <a:ext cx="5120640" cy="640080"/>
          </a:xfrm>
          <a:prstGeom prst="rect">
            <a:avLst/>
          </a:prstGeom>
          <a:solidFill>
            <a:srgbClr val="0E3A5C"/>
          </a:solidFill>
          <a:ln w="12700">
            <a:solidFill>
              <a:srgbClr val="00C9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537960" y="566928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&gt; number. 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org can plug in its own params.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Moamen M. Aly  ·  MSc Thesis Defense  ·  June 21, 2026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22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11430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 — Achieved?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868680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against the four stated goals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11247120" cy="1051560"/>
          </a:xfrm>
          <a:prstGeom prst="rect">
            <a:avLst/>
          </a:prstGeom>
          <a:solidFill>
            <a:srgbClr val="F7F9FB"/>
          </a:solidFill>
          <a:ln w="12700">
            <a:solidFill>
              <a:srgbClr val="2C8C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822960" cy="1051560"/>
          </a:xfrm>
          <a:prstGeom prst="rect">
            <a:avLst/>
          </a:prstGeom>
          <a:solidFill>
            <a:srgbClr val="2C8C5C"/>
          </a:solidFill>
          <a:ln w="12700">
            <a:solidFill>
              <a:srgbClr val="2C8C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822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463040" y="15544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Hybrid ML Pipeline</a:t>
            </a:r>
            <a:r>
              <a:rPr lang="en-US" sz="1200" b="1" dirty="0">
                <a:solidFill>
                  <a:srgbClr val="2C8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✓ ACHIEVED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63040" y="196596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Four-branch ColumnTransformer implemented, ~3,090-column sparse matrix, &lt;10ms inference latency on commodity hardware.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651760"/>
            <a:ext cx="11247120" cy="1051560"/>
          </a:xfrm>
          <a:prstGeom prst="rect">
            <a:avLst/>
          </a:prstGeom>
          <a:solidFill>
            <a:srgbClr val="F7F9FB"/>
          </a:solidFill>
          <a:ln w="12700">
            <a:solidFill>
              <a:srgbClr val="2C8C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7200" y="2651760"/>
            <a:ext cx="822960" cy="1051560"/>
          </a:xfrm>
          <a:prstGeom prst="rect">
            <a:avLst/>
          </a:prstGeom>
          <a:solidFill>
            <a:srgbClr val="2C8C5C"/>
          </a:solidFill>
          <a:ln w="12700">
            <a:solidFill>
              <a:srgbClr val="2C8C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2651760"/>
            <a:ext cx="822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1463040" y="2743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Three Classifiers</a:t>
            </a:r>
            <a:r>
              <a:rPr lang="en-US" sz="1200" b="1" dirty="0">
                <a:solidFill>
                  <a:srgbClr val="2C8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✓ ACHIEVED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463040" y="315468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/ RF / XGBoost trained on identical features, evaluated under identical metric suite, winner selected by objective criterion.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840480"/>
            <a:ext cx="11247120" cy="1051560"/>
          </a:xfrm>
          <a:prstGeom prst="rect">
            <a:avLst/>
          </a:prstGeom>
          <a:solidFill>
            <a:srgbClr val="F7F9FB"/>
          </a:solidFill>
          <a:ln w="12700">
            <a:solidFill>
              <a:srgbClr val="2C8C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57200" y="3840480"/>
            <a:ext cx="822960" cy="1051560"/>
          </a:xfrm>
          <a:prstGeom prst="rect">
            <a:avLst/>
          </a:prstGeom>
          <a:solidFill>
            <a:srgbClr val="2C8C5C"/>
          </a:solidFill>
          <a:ln w="12700">
            <a:solidFill>
              <a:srgbClr val="2C8C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57200" y="3840480"/>
            <a:ext cx="822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1463040" y="39319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Under Realistic Conditions</a:t>
            </a:r>
            <a:r>
              <a:rPr lang="en-US" sz="1200" b="1" dirty="0">
                <a:solidFill>
                  <a:srgbClr val="2C8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✓ ACHIEVED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463040" y="434340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= 0.592 stratified vs 0.621 chronological — within ±3pp range. Model is robust to observed temporal drift.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5029200"/>
            <a:ext cx="11247120" cy="1051560"/>
          </a:xfrm>
          <a:prstGeom prst="rect">
            <a:avLst/>
          </a:prstGeom>
          <a:solidFill>
            <a:srgbClr val="F7F9FB"/>
          </a:solidFill>
          <a:ln w="12700">
            <a:solidFill>
              <a:srgbClr val="2C8C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57200" y="5029200"/>
            <a:ext cx="822960" cy="1051560"/>
          </a:xfrm>
          <a:prstGeom prst="rect">
            <a:avLst/>
          </a:prstGeom>
          <a:solidFill>
            <a:srgbClr val="2C8C5C"/>
          </a:solidFill>
          <a:ln w="12700">
            <a:solidFill>
              <a:srgbClr val="2C8C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57200" y="5029200"/>
            <a:ext cx="822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1463040" y="51206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 Business Impact</a:t>
            </a:r>
            <a:r>
              <a:rPr lang="en-US" sz="1200" b="1" dirty="0">
                <a:solidFill>
                  <a:srgbClr val="2C8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✓ ACHIEVED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463040" y="553212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$383k annual savings estimate with documented assumptions and sensitivity range. Methodology transferable to any org.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Moamen M. Aly  ·  MSc Thesis Defense  ·  June 21, 2026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22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11430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Contributions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868680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thesis adds to the field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5486400" cy="1463040"/>
          </a:xfrm>
          <a:prstGeom prst="rect">
            <a:avLst/>
          </a:prstGeom>
          <a:solidFill>
            <a:srgbClr val="F7F9FB"/>
          </a:solidFill>
          <a:ln w="12700">
            <a:solidFill>
              <a:srgbClr val="065A82"/>
            </a:solidFill>
            <a:prstDash val="solid"/>
          </a:ln>
          <a:effectLst>
            <a:outerShdw blurRad="508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60" y="1600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417320" y="1645920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Pre-execution prediction protocol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417320" y="2057400"/>
            <a:ext cx="4434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feature-set discipline that distinguishes this work from post-execution telemetry approaches (Patel 2019).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217920" y="1463040"/>
            <a:ext cx="5486400" cy="1463040"/>
          </a:xfrm>
          <a:prstGeom prst="rect">
            <a:avLst/>
          </a:prstGeom>
          <a:solidFill>
            <a:srgbClr val="F7F9FB"/>
          </a:solidFill>
          <a:ln w="12700">
            <a:solidFill>
              <a:srgbClr val="065A82"/>
            </a:solidFill>
            <a:prstDash val="solid"/>
          </a:ln>
          <a:effectLst>
            <a:outerShdw blurRad="508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355080" y="1600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🧪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7178040" y="1645920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Ablation study with honest negative finding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178040" y="2057400"/>
            <a:ext cx="4434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Empirically refuted the unconditional hybrid claim using real GitHub data + TF-IDF — a result previously undocumented.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3090672"/>
            <a:ext cx="5486400" cy="1463040"/>
          </a:xfrm>
          <a:prstGeom prst="rect">
            <a:avLst/>
          </a:prstGeom>
          <a:solidFill>
            <a:srgbClr val="F7F9FB"/>
          </a:solidFill>
          <a:ln w="12700">
            <a:solidFill>
              <a:srgbClr val="065A82"/>
            </a:solidFill>
            <a:prstDash val="solid"/>
          </a:ln>
          <a:effectLst>
            <a:outerShdw blurRad="508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94360" y="322783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1417320" y="3273552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optimization as a first-class concern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417320" y="3685032"/>
            <a:ext cx="4434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Demonstrated +27pp F1 from a single hyperparameter — generalizes beyond CI/CD to any imbalanced binary task.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17920" y="3090672"/>
            <a:ext cx="5486400" cy="1463040"/>
          </a:xfrm>
          <a:prstGeom prst="rect">
            <a:avLst/>
          </a:prstGeom>
          <a:solidFill>
            <a:srgbClr val="F7F9FB"/>
          </a:solidFill>
          <a:ln w="12700">
            <a:solidFill>
              <a:srgbClr val="065A82"/>
            </a:solidFill>
            <a:prstDash val="solid"/>
          </a:ln>
          <a:effectLst>
            <a:outerShdw blurRad="508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355080" y="322783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7178040" y="3273552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Identity-leakage defense for TF-IDF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178040" y="3685032"/>
            <a:ext cx="4434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693-token stoplist algorithm that prevents the vectorizer from learning author/repo identifiers.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4718304"/>
            <a:ext cx="5486400" cy="1463040"/>
          </a:xfrm>
          <a:prstGeom prst="rect">
            <a:avLst/>
          </a:prstGeom>
          <a:solidFill>
            <a:srgbClr val="F7F9FB"/>
          </a:solidFill>
          <a:ln w="12700">
            <a:solidFill>
              <a:srgbClr val="065A82"/>
            </a:solidFill>
            <a:prstDash val="solid"/>
          </a:ln>
          <a:effectLst>
            <a:outerShdw blurRad="508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94360" y="4855464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1417320" y="4901184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reproducibility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417320" y="5312664"/>
            <a:ext cx="4434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seed, pinned dependencies, all artefacts committed. Independent readers can reproduce every result.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217920" y="4718304"/>
            <a:ext cx="5486400" cy="1463040"/>
          </a:xfrm>
          <a:prstGeom prst="rect">
            <a:avLst/>
          </a:prstGeom>
          <a:solidFill>
            <a:srgbClr val="F7F9FB"/>
          </a:solidFill>
          <a:ln w="12700">
            <a:solidFill>
              <a:srgbClr val="065A82"/>
            </a:solidFill>
            <a:prstDash val="solid"/>
          </a:ln>
          <a:effectLst>
            <a:outerShdw blurRad="508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355080" y="4855464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</a:t>
            </a:r>
            <a:endParaRPr lang="en-US" sz="3600" dirty="0"/>
          </a:p>
        </p:txBody>
      </p:sp>
      <p:sp>
        <p:nvSpPr>
          <p:cNvPr id="26" name="Text 24"/>
          <p:cNvSpPr/>
          <p:nvPr/>
        </p:nvSpPr>
        <p:spPr>
          <a:xfrm>
            <a:off x="7178040" y="4901184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Business-impact translation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178040" y="5312664"/>
            <a:ext cx="4434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 methodology for converting precision/recall into dollar savings under explicit assumptions.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Moamen M. Aly  ·  MSc Thesis Defense  ·  June 21, 2026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22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11430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Limitations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868680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work doesn't claim — and why that's important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5486400" cy="1463040"/>
          </a:xfrm>
          <a:prstGeom prst="rect">
            <a:avLst/>
          </a:prstGeom>
          <a:solidFill>
            <a:srgbClr val="FFF6E6"/>
          </a:solidFill>
          <a:ln w="12700">
            <a:solidFill>
              <a:srgbClr val="D49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137160" cy="1463040"/>
          </a:xfrm>
          <a:prstGeom prst="rect">
            <a:avLst/>
          </a:prstGeom>
          <a:solidFill>
            <a:srgbClr val="D4922A"/>
          </a:solidFill>
          <a:ln w="12700">
            <a:solidFill>
              <a:srgbClr val="D49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16459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scale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205740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9,772 runs from 18 repos. Larger samples would tighten confidence intervals and surface language-specific effects.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17920" y="1463040"/>
            <a:ext cx="5486400" cy="1463040"/>
          </a:xfrm>
          <a:prstGeom prst="rect">
            <a:avLst/>
          </a:prstGeom>
          <a:solidFill>
            <a:srgbClr val="FFF6E6"/>
          </a:solidFill>
          <a:ln w="12700">
            <a:solidFill>
              <a:srgbClr val="D49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217920" y="1463040"/>
            <a:ext cx="137160" cy="1463040"/>
          </a:xfrm>
          <a:prstGeom prst="rect">
            <a:avLst/>
          </a:prstGeom>
          <a:solidFill>
            <a:srgbClr val="D4922A"/>
          </a:solidFill>
          <a:ln w="12700">
            <a:solidFill>
              <a:srgbClr val="D49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537960" y="16459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bias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37960" y="205740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CI/CD environments differ in commit cadence, branch policy, and tooling. Transfer is unverified.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090672"/>
            <a:ext cx="5486400" cy="1463040"/>
          </a:xfrm>
          <a:prstGeom prst="rect">
            <a:avLst/>
          </a:prstGeom>
          <a:solidFill>
            <a:srgbClr val="FFF6E6"/>
          </a:solidFill>
          <a:ln w="12700">
            <a:solidFill>
              <a:srgbClr val="D49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57200" y="3090672"/>
            <a:ext cx="137160" cy="1463040"/>
          </a:xfrm>
          <a:prstGeom prst="rect">
            <a:avLst/>
          </a:prstGeom>
          <a:solidFill>
            <a:srgbClr val="D4922A"/>
          </a:solidFill>
          <a:ln w="12700">
            <a:solidFill>
              <a:srgbClr val="D49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77240" y="327355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text representation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77240" y="3685032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Lexical-overlap encoding misses semantic similarity. A transformer-based encoder may restore the hybrid advantage.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17920" y="3090672"/>
            <a:ext cx="5486400" cy="1463040"/>
          </a:xfrm>
          <a:prstGeom prst="rect">
            <a:avLst/>
          </a:prstGeom>
          <a:solidFill>
            <a:srgbClr val="FFF6E6"/>
          </a:solidFill>
          <a:ln w="12700">
            <a:solidFill>
              <a:srgbClr val="D49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217920" y="3090672"/>
            <a:ext cx="137160" cy="1463040"/>
          </a:xfrm>
          <a:prstGeom prst="rect">
            <a:avLst/>
          </a:prstGeom>
          <a:solidFill>
            <a:srgbClr val="D4922A"/>
          </a:solidFill>
          <a:ln w="12700">
            <a:solidFill>
              <a:srgbClr val="D49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537960" y="327355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identity leakage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537960" y="3685032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Stoplist removes known identifiers but cannot guarantee zero project-vocabulary signal in text features.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4718304"/>
            <a:ext cx="5486400" cy="1463040"/>
          </a:xfrm>
          <a:prstGeom prst="rect">
            <a:avLst/>
          </a:prstGeom>
          <a:solidFill>
            <a:srgbClr val="FFF6E6"/>
          </a:solidFill>
          <a:ln w="12700">
            <a:solidFill>
              <a:srgbClr val="D49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57200" y="4718304"/>
            <a:ext cx="137160" cy="1463040"/>
          </a:xfrm>
          <a:prstGeom prst="rect">
            <a:avLst/>
          </a:prstGeom>
          <a:solidFill>
            <a:srgbClr val="D4922A"/>
          </a:solidFill>
          <a:ln w="12700">
            <a:solidFill>
              <a:srgbClr val="D49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77240" y="4901184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production validation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77240" y="5312664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metrics ≠ deployed performance. A live deployment study would measure user behavior under predictions.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17920" y="4718304"/>
            <a:ext cx="5486400" cy="1463040"/>
          </a:xfrm>
          <a:prstGeom prst="rect">
            <a:avLst/>
          </a:prstGeom>
          <a:solidFill>
            <a:srgbClr val="FFF6E6"/>
          </a:solidFill>
          <a:ln w="12700">
            <a:solidFill>
              <a:srgbClr val="D49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217920" y="4718304"/>
            <a:ext cx="137160" cy="1463040"/>
          </a:xfrm>
          <a:prstGeom prst="rect">
            <a:avLst/>
          </a:prstGeom>
          <a:solidFill>
            <a:srgbClr val="D4922A"/>
          </a:solidFill>
          <a:ln w="12700">
            <a:solidFill>
              <a:srgbClr val="D49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537960" y="4901184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tested on test set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537960" y="5312664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Methodologically cleaner: hold out a separate validation set for threshold selection. Future work.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Moamen M. Aly  ·  MSc Thesis Defense  ·  June 21, 2026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22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11430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868680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directions for extension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5486400" cy="1051560"/>
          </a:xfrm>
          <a:prstGeom prst="rect">
            <a:avLst/>
          </a:prstGeom>
          <a:solidFill>
            <a:srgbClr val="F7F9FB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1709928"/>
            <a:ext cx="548640" cy="54864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7099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71600" y="164592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Transformer-based text encoder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71600" y="201168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CodeBERT / Sentence-BERT — may restore hybrid advantage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217920" y="1463040"/>
            <a:ext cx="5486400" cy="1051560"/>
          </a:xfrm>
          <a:prstGeom prst="rect">
            <a:avLst/>
          </a:prstGeom>
          <a:solidFill>
            <a:srgbClr val="F7F9FB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400800" y="1709928"/>
            <a:ext cx="548640" cy="54864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0" y="17099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132320" y="164592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to 1M+ workflow runs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132320" y="201168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Hundreds of repos, broader generalization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2651760"/>
            <a:ext cx="5486400" cy="1051560"/>
          </a:xfrm>
          <a:prstGeom prst="rect">
            <a:avLst/>
          </a:prstGeom>
          <a:solidFill>
            <a:srgbClr val="F7F9FB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40080" y="2898648"/>
            <a:ext cx="548640" cy="54864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0080" y="28986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371600" y="28346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dataset validation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371600" y="320040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transfer to proprietary CI/CD environments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17920" y="2651760"/>
            <a:ext cx="5486400" cy="1051560"/>
          </a:xfrm>
          <a:prstGeom prst="rect">
            <a:avLst/>
          </a:prstGeom>
          <a:solidFill>
            <a:srgbClr val="F7F9FB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400800" y="2898648"/>
            <a:ext cx="548640" cy="54864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400800" y="28986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132320" y="28346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learning capability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132320" y="320040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adaptation to evolving codebases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" y="3840480"/>
            <a:ext cx="5486400" cy="1051560"/>
          </a:xfrm>
          <a:prstGeom prst="rect">
            <a:avLst/>
          </a:prstGeom>
          <a:solidFill>
            <a:srgbClr val="F7F9FB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40080" y="4087368"/>
            <a:ext cx="548640" cy="54864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40080" y="40873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371600" y="402336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SHAP-based per-prediction explanations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371600" y="438912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Individual-commit interpretability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217920" y="3840480"/>
            <a:ext cx="5486400" cy="1051560"/>
          </a:xfrm>
          <a:prstGeom prst="rect">
            <a:avLst/>
          </a:prstGeom>
          <a:solidFill>
            <a:srgbClr val="F7F9FB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400800" y="4087368"/>
            <a:ext cx="548640" cy="54864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400800" y="40873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7132320" y="402336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grid/Bayesian search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132320" y="438912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Tighter optimization than current defaults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57200" y="5029200"/>
            <a:ext cx="5486400" cy="1051560"/>
          </a:xfrm>
          <a:prstGeom prst="rect">
            <a:avLst/>
          </a:prstGeom>
          <a:solidFill>
            <a:srgbClr val="F7F9FB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640080" y="5276088"/>
            <a:ext cx="548640" cy="54864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40080" y="52760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1371600" y="52120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operationalized deployment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1371600" y="557784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real user behavior under predictions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217920" y="5029200"/>
            <a:ext cx="5486400" cy="1051560"/>
          </a:xfrm>
          <a:prstGeom prst="rect">
            <a:avLst/>
          </a:prstGeom>
          <a:solidFill>
            <a:srgbClr val="F7F9FB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6400800" y="5276088"/>
            <a:ext cx="548640" cy="54864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6400800" y="52760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7132320" y="52120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Multi-class failure stage prediction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7132320" y="557784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vs. test vs. deploy failure differentiation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Moamen M. Aly  ·  MSc Thesis Defense  ·  June 21, 2026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22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C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Summary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371600" cy="0"/>
          </a:xfrm>
          <a:prstGeom prst="line">
            <a:avLst/>
          </a:prstGeom>
          <a:noFill/>
          <a:ln w="38100">
            <a:solidFill>
              <a:srgbClr val="00C9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73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0C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371600" y="160020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hybrid ML pipeline for pre-execution CI/CD failure prediction using only commit-time features available from the GitHub Actions API.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2423160"/>
            <a:ext cx="73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0C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371600" y="256032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Achieved F1 = 0.59 (stratified) and F1 = 0.62 (chronological) on real data — competitive with prior post-execution approaches under stricter constraints.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3383280"/>
            <a:ext cx="73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0C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1371600" y="352044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Demonstrated through ablation that the unconditional hybrid claim does not hold with TF-IDF text features — a previously undocumented empirical finding.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4343400"/>
            <a:ext cx="73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0C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1371600" y="448056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Showed that threshold optimization alone yields +27pp F1 — a methodological lesson that generalizes beyond CI/CD.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7200" y="5303520"/>
            <a:ext cx="73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0C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1371600" y="544068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annual savings of ~$383,000 for a mid-sized organization, with documented methodology for org-specific recalculation.</a:t>
            </a:r>
            <a:endParaRPr lang="en-US" sz="1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0C9B7"/>
          </a:solidFill>
          <a:ln w="12700">
            <a:solidFill>
              <a:srgbClr val="00C9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182880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731520" y="30175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i="1" dirty="0">
                <a:solidFill>
                  <a:srgbClr val="00C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31520" y="3931920"/>
            <a:ext cx="3657600" cy="0"/>
          </a:xfrm>
          <a:prstGeom prst="line">
            <a:avLst/>
          </a:prstGeom>
          <a:noFill/>
          <a:ln w="25400">
            <a:solidFill>
              <a:srgbClr val="00C9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41148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Moamen Mohamed Aly Hussein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45262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 Software Engineering  ·  Cairo University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4892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Defense: Saturday, June 21, 2026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5760720"/>
            <a:ext cx="7315200" cy="457200"/>
          </a:xfrm>
          <a:prstGeom prst="rect">
            <a:avLst/>
          </a:prstGeom>
          <a:solidFill>
            <a:srgbClr val="0E3A5C"/>
          </a:solidFill>
          <a:ln w="12700">
            <a:solidFill>
              <a:srgbClr val="00C9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68680" y="5806440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📎 Backup material available:</a:t>
            </a:r>
            <a:r>
              <a:rPr lang="en-US" sz="1100" i="1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thesis document, source code, Q&amp;A reference card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2451</Words>
  <Application>Microsoft Office PowerPoint</Application>
  <PresentationFormat>Widescreen</PresentationFormat>
  <Paragraphs>436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Predicting CI/CD Pipeline Build Failures Using Machine Learning</dc:title>
  <dc:subject>PptxGenJS Presentation</dc:subject>
  <dc:creator>Moamen Mohamed Aly Hussein</dc:creator>
  <cp:lastModifiedBy>Moamen Mohamed</cp:lastModifiedBy>
  <cp:revision>2</cp:revision>
  <dcterms:created xsi:type="dcterms:W3CDTF">2026-05-30T20:02:31Z</dcterms:created>
  <dcterms:modified xsi:type="dcterms:W3CDTF">2026-06-20T23:39:49Z</dcterms:modified>
</cp:coreProperties>
</file>